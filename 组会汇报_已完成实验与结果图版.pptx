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ade245ad394f5d" /><Relationship Type="http://schemas.openxmlformats.org/officeDocument/2006/relationships/extended-properties" Target="/docProps/app.xml" Id="R63b6a8b741484198" /><Relationship Type="http://schemas.openxmlformats.org/officeDocument/2006/relationships/officeDocument" Target="/ppt/presentation.xml" Id="R619c6f60fe124d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f7bdff1ec04ca7"/>
  </p:sldMasterIdLst>
  <p:notesMasterIdLst>
    <p:notesMasterId xmlns:r="http://schemas.openxmlformats.org/officeDocument/2006/relationships" r:id="R2a60a235d83b46ea"/>
  </p:notesMasterIdLst>
  <p:sldIdLst>
    <p:sldId xmlns:r="http://schemas.openxmlformats.org/officeDocument/2006/relationships" id="256" r:id="R7d2a4751fcdb4d5f"/>
    <p:sldId xmlns:r="http://schemas.openxmlformats.org/officeDocument/2006/relationships" id="257" r:id="R6d85621a9a004c17"/>
    <p:sldId xmlns:r="http://schemas.openxmlformats.org/officeDocument/2006/relationships" id="258" r:id="R87abb71a6a3544f9"/>
    <p:sldId xmlns:r="http://schemas.openxmlformats.org/officeDocument/2006/relationships" id="259" r:id="R168a6f232c174c38"/>
    <p:sldId xmlns:r="http://schemas.openxmlformats.org/officeDocument/2006/relationships" id="260" r:id="R3c92505458cc4c3f"/>
    <p:sldId xmlns:r="http://schemas.openxmlformats.org/officeDocument/2006/relationships" id="261" r:id="R683aab9704964dfd"/>
    <p:sldId xmlns:r="http://schemas.openxmlformats.org/officeDocument/2006/relationships" id="262" r:id="Rf81bc814c0824f76"/>
    <p:sldId xmlns:r="http://schemas.openxmlformats.org/officeDocument/2006/relationships" id="263" r:id="R21018391e1ca439a"/>
    <p:sldId xmlns:r="http://schemas.openxmlformats.org/officeDocument/2006/relationships" id="264" r:id="R9b0f4246b698439f"/>
    <p:sldId xmlns:r="http://schemas.openxmlformats.org/officeDocument/2006/relationships" id="265" r:id="Rf78947f0dd68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a2d2c2e5149a5" /><Relationship Type="http://schemas.openxmlformats.org/officeDocument/2006/relationships/slideMaster" Target="/ppt/slideMasters/slideMaster1.xml" Id="Rd4f7bdff1ec04ca7" /><Relationship Type="http://schemas.openxmlformats.org/officeDocument/2006/relationships/notesMaster" Target="/ppt/notesMasters/notesMaster1.xml" Id="R2a60a235d83b46ea" /><Relationship Type="http://schemas.openxmlformats.org/officeDocument/2006/relationships/presProps" Target="/ppt/presProps.xml" Id="R4192a906915a4d84" /><Relationship Type="http://schemas.openxmlformats.org/officeDocument/2006/relationships/tableStyles" Target="/ppt/tableStyles.xml" Id="R4a077fc325714ac9" /><Relationship Type="http://schemas.openxmlformats.org/officeDocument/2006/relationships/slide" Target="/ppt/slides/slide1.xml" Id="R7d2a4751fcdb4d5f" /><Relationship Type="http://schemas.openxmlformats.org/officeDocument/2006/relationships/slide" Target="/ppt/slides/slide2.xml" Id="R6d85621a9a004c17" /><Relationship Type="http://schemas.openxmlformats.org/officeDocument/2006/relationships/slide" Target="/ppt/slides/slide3.xml" Id="R87abb71a6a3544f9" /><Relationship Type="http://schemas.openxmlformats.org/officeDocument/2006/relationships/slide" Target="/ppt/slides/slide4.xml" Id="R168a6f232c174c38" /><Relationship Type="http://schemas.openxmlformats.org/officeDocument/2006/relationships/slide" Target="/ppt/slides/slide5.xml" Id="R3c92505458cc4c3f" /><Relationship Type="http://schemas.openxmlformats.org/officeDocument/2006/relationships/slide" Target="/ppt/slides/slide6.xml" Id="R683aab9704964dfd" /><Relationship Type="http://schemas.openxmlformats.org/officeDocument/2006/relationships/slide" Target="/ppt/slides/slide7.xml" Id="Rf81bc814c0824f76" /><Relationship Type="http://schemas.openxmlformats.org/officeDocument/2006/relationships/slide" Target="/ppt/slides/slide8.xml" Id="R21018391e1ca439a" /><Relationship Type="http://schemas.openxmlformats.org/officeDocument/2006/relationships/slide" Target="/ppt/slides/slide9.xml" Id="R9b0f4246b698439f" /><Relationship Type="http://schemas.openxmlformats.org/officeDocument/2006/relationships/slide" Target="/ppt/slides/slide10.xml" Id="Rf78947f0dd68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58b42422d42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3b63dca6f4024" /><Relationship Type="http://schemas.openxmlformats.org/officeDocument/2006/relationships/notesMaster" Target="/ppt/notesMasters/notesMaster1.xml" Id="Rba4e3d4aee3a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fad4473754d78" /><Relationship Type="http://schemas.openxmlformats.org/officeDocument/2006/relationships/notesMaster" Target="/ppt/notesMasters/notesMaster1.xml" Id="R24ea13fa8715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3fe4d92390491b" /><Relationship Type="http://schemas.openxmlformats.org/officeDocument/2006/relationships/notesMaster" Target="/ppt/notesMasters/notesMaster1.xml" Id="R3313d4846075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e1c3828ed49e3" /><Relationship Type="http://schemas.openxmlformats.org/officeDocument/2006/relationships/notesMaster" Target="/ppt/notesMasters/notesMaster1.xml" Id="R0aa932803a7543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9681ccea84c2f" /><Relationship Type="http://schemas.openxmlformats.org/officeDocument/2006/relationships/notesMaster" Target="/ppt/notesMasters/notesMaster1.xml" Id="Rabf63cda80b4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9096dda74b4831" /><Relationship Type="http://schemas.openxmlformats.org/officeDocument/2006/relationships/notesMaster" Target="/ppt/notesMasters/notesMaster1.xml" Id="R660b9a57252c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acb5de42ea4f4d" /><Relationship Type="http://schemas.openxmlformats.org/officeDocument/2006/relationships/notesMaster" Target="/ppt/notesMasters/notesMaster1.xml" Id="Rdb22b61eb86a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a41740f7a34026" /><Relationship Type="http://schemas.openxmlformats.org/officeDocument/2006/relationships/notesMaster" Target="/ppt/notesMasters/notesMaster1.xml" Id="R0752584aaf5748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8beedcba6b4785" /><Relationship Type="http://schemas.openxmlformats.org/officeDocument/2006/relationships/notesMaster" Target="/ppt/notesMasters/notesMaster1.xml" Id="R07a2e5fab5164a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e377930ec14b64" /><Relationship Type="http://schemas.openxmlformats.org/officeDocument/2006/relationships/notesMaster" Target="/ppt/notesMasters/notesMaster1.xml" Id="Rf300285b3df5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本版只汇报已经完成的实验：每页固定回答实验设计、实际结果和当前结论。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D:/xiangmuxunlian/新/ICLR-2025-geometry-of-long-tailed-representation-learning-rebalancing-features-for-skewed-distributions-Paper-Conference.pdf</a:t>
            </a:r>
          </a:p>
          <a:p xmlns:a="http://schemas.openxmlformats.org/drawingml/2006/main">
            <a:r>
              <a:t>- D:/xiangmuxunlian/新/xiangfa/outputs/support_dynamics/report.md</a:t>
            </a:r>
          </a:p>
          <a:p xmlns:a="http://schemas.openxmlformats.org/drawingml/2006/main">
            <a:r>
              <a:t>- D:/xiangmuxunlian/新/xiangfa/V3_PILOT_REPORT.md</a:t>
            </a:r>
          </a:p>
          <a:p xmlns:a="http://schemas.openxmlformats.org/drawingml/2006/main">
            <a:r>
              <a:t>- D:/xiangmuxunlian/新/xiangfa/DONOR_CONTROL_REPORT.md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论文理论只保留一个实验问题：样本频率是否会系统改变支撑几何。后续六组实验分别回答现象、轨迹、恢复和反证。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D:/xiangmuxunlian/新/ICLR-2025-geometry-of-long-tailed-representation-learning-rebalancing-features-for-skewed-distributions-Paper-Conference.pdf pp. 2, 4-8</a:t>
            </a:r>
          </a:p>
          <a:p xmlns:a="http://schemas.openxmlformats.org/drawingml/2006/main">
            <a:r>
              <a:t>- D:/xiangmuxunlian/新/xiangfa/outputs/support_dynamics/report.md</a:t>
            </a:r>
          </a:p>
          <a:p xmlns:a="http://schemas.openxmlformats.org/drawingml/2006/main">
            <a:r>
              <a:t>- D:/xiangmuxunlian/新/xiangfa/outputs/lt_rank_swap/report.md</a:t>
            </a:r>
          </a:p>
          <a:p xmlns:a="http://schemas.openxmlformats.org/drawingml/2006/main">
            <a:r>
              <a:t>- D:/xiangmuxunlian/新/xiangfa/V3_PILOT_REPORT.md</a:t>
            </a:r>
          </a:p>
          <a:p xmlns:a="http://schemas.openxmlformats.org/drawingml/2006/main">
            <a:r>
              <a:t>- D:/xiangmuxunlian/新/xiangfa/DONOR_CONTROL_REPORT.md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所有结果都按相同可信度原则解读：训练池、校准池、测试集职责分离；只改变目标变量；用固定平衡协议评价几何。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D:/xiangmuxunlian/新/xiangfa/TRAINABLE_RECOVERY_DESIGN.md</a:t>
            </a:r>
          </a:p>
          <a:p xmlns:a="http://schemas.openxmlformats.org/drawingml/2006/main">
            <a:r>
              <a:t>- D:/xiangmuxunlian/新/xiangfa/outputs/leakage_free_frequency_sweep/design_audit.json</a:t>
            </a:r>
          </a:p>
          <a:p xmlns:a="http://schemas.openxmlformats.org/drawingml/2006/main">
            <a:r>
              <a:t>- D:/xiangmuxunlian/新/xiangfa/outputs/leakage_free_frequency_sweep/split_audit.json</a:t>
            </a:r>
          </a:p>
          <a:p xmlns:a="http://schemas.openxmlformats.org/drawingml/2006/main">
            <a:r>
              <a:t>- D:/xiangmuxunlian/新/xiangfa/outputs/latin_donor_trajectory_controls/design_audit.json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设计：五个环境保持完全相同的类别频率直方图，每类依次经历 5、20、50、200、500；恢复器使用类别不相交五折。</a:t>
            </a:r>
          </a:p>
          <a:p xmlns:a="http://schemas.openxmlformats.org/drawingml/2006/main">
            <a:r>
              <a:t>结果：full_support_ridge 的少样本到头类 NMAE 为 0.7878，相比 identity 7.8878 改善 90.01%，100% 类别改善。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D:/xiangmuxunlian/新/xiangfa/outputs/support_dynamics/report.md</a:t>
            </a:r>
          </a:p>
          <a:p xmlns:a="http://schemas.openxmlformats.org/drawingml/2006/main">
            <a:r>
              <a:t>- D:/xiangmuxunlian/新/xiangfa/outputs/support_dynamics/seed_42/summary.json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设计：两个 IF=100 数据集使用相同频率直方图，只让 maple_tree 与 oak_tree 交换 500-shot 和 5-shot 身份；训练两个 seed。</a:t>
            </a:r>
          </a:p>
          <a:p xmlns:a="http://schemas.openxmlformats.org/drawingml/2006/main">
            <a:r>
              <a:t>结果：两个 seed 的响应余弦分别为 0.7392 和 0.6745，均值 0.7068，符号一致率均为 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D:/xiangmuxunlian/新/xiangfa/outputs/lt_rank_swap/report.md</a:t>
            </a:r>
          </a:p>
          <a:p xmlns:a="http://schemas.openxmlformats.org/drawingml/2006/main">
            <a:r>
              <a:t>- D:/xiangmuxunlian/新/xiangfa/outputs/lt_rank_swap/aggregate.json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设计：A/B 沿 400→208→108→56→28→14→7→4 反向变化，其余 98 类的数量与具体图像保持不变。</a:t>
            </a:r>
          </a:p>
          <a:p xmlns:a="http://schemas.openxmlformats.org/drawingml/2006/main">
            <a:r>
              <a:t>结果：q50、q95、tangent trace 的轨迹余弦为 0.846、0.927、0.972；组合方向一致率 95.2%。细粒度谱指标不稳定，因此不进入恢复监督。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D:/xiangmuxunlian/新/xiangfa/outputs/leakage_free_frequency_sweep/report.md</a:t>
            </a:r>
          </a:p>
          <a:p xmlns:a="http://schemas.openxmlformats.org/drawingml/2006/main">
            <a:r>
              <a:t>- D:/xiangmuxunlian/新/xiangfa/outputs/leakage_free_frequency_sweep/stable_metric_analysis.json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设计：先用 oracle 支撑检查恢复优化器是否有能力改变表征，同时监控其余 99 类。</a:t>
            </a:r>
          </a:p>
          <a:p xmlns:a="http://schemas.openxmlformats.org/drawingml/2006/main">
            <a:r>
              <a:t>结果：v1 允许 BatchNorm 运行统计更新，背景下降 8 至 9.5 点；v3 冻结统计后，双向 oracle 门控通过，目标提高 11/7 点，背景变化仅 +0.02/-0.12。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D:/xiangmuxunlian/新/xiangfa/V3_PILOT_REPORT.md</a:t>
            </a:r>
          </a:p>
          <a:p xmlns:a="http://schemas.openxmlformats.org/drawingml/2006/main">
            <a:r>
              <a:t>- D:/xiangmuxunlian/新/xiangfa/outputs/trainable_support_recovery_v3_oracle_gate/results.csv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设计：在完全相同的 v3 训练设置下比较 classifier_only、augmented_ft、self_support 和 similar_support，双向平均。</a:t>
            </a:r>
          </a:p>
          <a:p xmlns:a="http://schemas.openxmlformats.org/drawingml/2006/main">
            <a:r>
              <a:t>结果：similar_support 的 oracle 几何距离最低（0.231），线性探针平均 +1.5，背景仅 -0.020 点；但目标准确率 10.0%，仍低于 classifier_only 的 11.5%。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D:/xiangmuxunlian/新/xiangfa/V3_PILOT_REPORT.md</a:t>
            </a:r>
          </a:p>
          <a:p xmlns:a="http://schemas.openxmlformats.org/drawingml/2006/main">
            <a:r>
              <a:t>- D:/xiangmuxunlian/新/xiangfa/outputs/trainable_support_recovery_v3/results.csv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设计：拉丁频率设计，3 个训练 seed、15 个 ResNet-32、100 个目标类；比较相似、随机、远距离各 5 个供体。</a:t>
            </a:r>
          </a:p>
          <a:p xmlns:a="http://schemas.openxmlformats.org/drawingml/2006/main">
            <a:r>
              <a:t>结果：similar 与 random 无显著差异（-0.0082，p=0.739）；similar 与 distant 差 +0.1029，p&lt;0.00002。强假设被否定，弱结论是远距离供体应排除。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D:/xiangmuxunlian/新/xiangfa/DONOR_CONTROL_REPORT.md</a:t>
            </a:r>
          </a:p>
          <a:p xmlns:a="http://schemas.openxmlformats.org/drawingml/2006/main">
            <a:r>
              <a:t>- D:/xiangmuxunlian/新/xiangfa/outputs/latin_donor_trajectory_controls/aggregate_hypothesis_test.json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最终只保留四个可交付结论：频率确实改变支撑；粗粒度轨迹可作为恢复监督；v3 能恢复几何并保护背景；最近邻供体不优于随机供体。</a:t>
            </a:r>
          </a:p>
          <a:p xmlns:a="http://schemas.openxmlformats.org/drawingml/2006/main">
            <a:r>
              <a:t>方法尚未闭环：similar_support 没有带来额外端到端准确率，不能宣称完整方法成功。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D:/xiangmuxunlian/新/xiangfa/outputs/support_dynamics/report.md</a:t>
            </a:r>
          </a:p>
          <a:p xmlns:a="http://schemas.openxmlformats.org/drawingml/2006/main">
            <a:r>
              <a:t>- D:/xiangmuxunlian/新/xiangfa/outputs/lt_rank_swap/report.md</a:t>
            </a:r>
          </a:p>
          <a:p xmlns:a="http://schemas.openxmlformats.org/drawingml/2006/main">
            <a:r>
              <a:t>- D:/xiangmuxunlian/新/xiangfa/outputs/leakage_free_frequency_sweep/stable_metric_analysis.json</a:t>
            </a:r>
          </a:p>
          <a:p xmlns:a="http://schemas.openxmlformats.org/drawingml/2006/main">
            <a:r>
              <a:t>- D:/xiangmuxunlian/新/xiangfa/V3_PILOT_REPORT.md</a:t>
            </a:r>
          </a:p>
          <a:p xmlns:a="http://schemas.openxmlformats.org/drawingml/2006/main">
            <a:r>
              <a:t>- D:/xiangmuxunlian/新/xiangfa/DONOR_CONTROL_REPORT.md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f55e29717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6c3190d464411" /><Relationship Type="http://schemas.openxmlformats.org/officeDocument/2006/relationships/slideLayout" Target="/ppt/slideLayouts/slideLayout1.xml" Id="R703c674725f3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c674725f3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a95b623244108" /><Relationship Type="http://schemas.openxmlformats.org/officeDocument/2006/relationships/notesSlide" Target="/ppt/notesSlides/notesSlide1.xml" Id="Rb0b23c97aaf240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c547686744c15" /><Relationship Type="http://schemas.openxmlformats.org/officeDocument/2006/relationships/notesSlide" Target="/ppt/notesSlides/notesSlide2.xml" Id="Rf77427082bbc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f3584a62440cf" /><Relationship Type="http://schemas.openxmlformats.org/officeDocument/2006/relationships/notesSlide" Target="/ppt/notesSlides/notesSlide3.xml" Id="R6855a3833a86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a23c047bd48eb" /><Relationship Type="http://schemas.openxmlformats.org/officeDocument/2006/relationships/chart" Target="/ppt/slides/charts/chart1.xml" Id="R54a958bf473d41f0" /><Relationship Type="http://schemas.openxmlformats.org/officeDocument/2006/relationships/notesSlide" Target="/ppt/notesSlides/notesSlide4.xml" Id="R9777a9ef3f5b48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962a729d04391" /><Relationship Type="http://schemas.openxmlformats.org/officeDocument/2006/relationships/chart" Target="/ppt/slides/charts/chart2.xml" Id="R44cc20765e064228" /><Relationship Type="http://schemas.openxmlformats.org/officeDocument/2006/relationships/notesSlide" Target="/ppt/notesSlides/notesSlide5.xml" Id="Rcf387da2ccd248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7ffb6609e441e" /><Relationship Type="http://schemas.openxmlformats.org/officeDocument/2006/relationships/chart" Target="/ppt/slides/charts/chart3.xml" Id="R2ee4125f275a4dcd" /><Relationship Type="http://schemas.openxmlformats.org/officeDocument/2006/relationships/notesSlide" Target="/ppt/notesSlides/notesSlide6.xml" Id="Rec08a54de06c40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b79cbb484e7f" /><Relationship Type="http://schemas.openxmlformats.org/officeDocument/2006/relationships/notesSlide" Target="/ppt/notesSlides/notesSlide7.xml" Id="R34db2708e3c049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7dcbc9a44f7a" /><Relationship Type="http://schemas.openxmlformats.org/officeDocument/2006/relationships/chart" Target="/ppt/slides/charts/chart4.xml" Id="R5b02e4dd2da54a06" /><Relationship Type="http://schemas.openxmlformats.org/officeDocument/2006/relationships/notesSlide" Target="/ppt/notesSlides/notesSlide8.xml" Id="R02c8dd869dd948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3d5defca4fbd" /><Relationship Type="http://schemas.openxmlformats.org/officeDocument/2006/relationships/chart" Target="/ppt/slides/charts/chart5.xml" Id="R1cee37dfd2784f65" /><Relationship Type="http://schemas.openxmlformats.org/officeDocument/2006/relationships/notesSlide" Target="/ppt/notesSlides/notesSlide9.xml" Id="R28161fbaf7524e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77fcb0f184aea" /><Relationship Type="http://schemas.openxmlformats.org/officeDocument/2006/relationships/notesSlide" Target="/ppt/notesSlides/notesSlide10.xml" Id="Rd960c7c95ddc4f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5→500 NMAE</c:v>
          </c:tx>
          <c:spPr>
            <a:solidFill xmlns:a="http://schemas.openxmlformats.org/drawingml/2006/main">
              <a:srgbClr val="3D8DFF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4FAFA5"/>
              </a:solidFill>
            </c:spPr>
          </c:dPt>
          <c:cat>
            <c:strLit>
              <c:ptCount val="5"/>
              <c:pt idx="0">
                <c:v>identity</c:v>
              </c:pt>
              <c:pt idx="1">
                <c:v>count</c:v>
              </c:pt>
              <c:pt idx="2">
                <c:v>prototype</c:v>
              </c:pt>
              <c:pt idx="3">
                <c:v>cap</c:v>
              </c:pt>
              <c:pt idx="4">
                <c:v>full support</c:v>
              </c:pt>
            </c:strLit>
          </c:cat>
          <c:val>
            <c:numLit>
              <c:formatCode>0.0000</c:formatCode>
              <c:ptCount val="5"/>
              <c:pt idx="0">
                <c:v>7.8878</c:v>
              </c:pt>
              <c:pt idx="1">
                <c:v>5.332</c:v>
              </c:pt>
              <c:pt idx="2">
                <c:v>4.6996</c:v>
              </c:pt>
              <c:pt idx="3">
                <c:v>4.0816</c:v>
              </c:pt>
              <c:pt idx="4">
                <c:v>0.7878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A/B response cosine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2"/>
              <c:pt idx="0">
                <c:v>seed 42</c:v>
              </c:pt>
              <c:pt idx="1">
                <c:v>seed 43</c:v>
              </c:pt>
            </c:strLit>
          </c:cat>
          <c:val>
            <c:numLit>
              <c:formatCode>0.0000</c:formatCode>
              <c:ptCount val="2"/>
              <c:pt idx="0">
                <c:v>0.7392</c:v>
              </c:pt>
              <c:pt idx="1">
                <c:v>0.6745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trajectory cosine</c:v>
          </c:tx>
          <c:spPr>
            <a:solidFill xmlns:a="http://schemas.openxmlformats.org/drawingml/2006/main">
              <a:srgbClr val="3D8D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4FAFA5"/>
              </a:solidFill>
            </c:spPr>
          </c:dPt>
          <c:cat>
            <c:strLit>
              <c:ptCount val="4"/>
              <c:pt idx="0">
                <c:v>q50</c:v>
              </c:pt>
              <c:pt idx="1">
                <c:v>q95</c:v>
              </c:pt>
              <c:pt idx="2">
                <c:v>trace</c:v>
              </c:pt>
              <c:pt idx="3">
                <c:v>组合</c:v>
              </c:pt>
            </c:strLit>
          </c:cat>
          <c:val>
            <c:numLit>
              <c:formatCode>0.000</c:formatCode>
              <c:ptCount val="4"/>
              <c:pt idx="0">
                <c:v>0.846</c:v>
              </c:pt>
              <c:pt idx="1">
                <c:v>0.927</c:v>
              </c:pt>
              <c:pt idx="2">
                <c:v>0.972</c:v>
              </c:pt>
              <c:pt idx="3">
                <c:v>0.925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oracle geometry distance</c:v>
          </c:tx>
          <c:spPr>
            <a:solidFill xmlns:a="http://schemas.openxmlformats.org/drawingml/2006/main">
              <a:srgbClr val="D0EDFA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classifier</c:v>
              </c:pt>
              <c:pt idx="1">
                <c:v>aug-FT</c:v>
              </c:pt>
              <c:pt idx="2">
                <c:v>self</c:v>
              </c:pt>
              <c:pt idx="3">
                <c:v>similar</c:v>
              </c:pt>
            </c:strLit>
          </c:cat>
          <c:val>
            <c:numLit>
              <c:formatCode>0.000</c:formatCode>
              <c:ptCount val="4"/>
              <c:pt idx="0">
                <c:v>0.293</c:v>
              </c:pt>
              <c:pt idx="1">
                <c:v>0.291</c:v>
              </c:pt>
              <c:pt idx="2">
                <c:v>0.27</c:v>
              </c:pt>
              <c:pt idx="3">
                <c:v>0.231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稳定支撑轨迹余弦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4FAFA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76B4A"/>
              </a:solidFill>
            </c:spPr>
          </c:dPt>
          <c:cat>
            <c:strLit>
              <c:ptCount val="3"/>
              <c:pt idx="0">
                <c:v>similar</c:v>
              </c:pt>
              <c:pt idx="1">
                <c:v>random</c:v>
              </c:pt>
              <c:pt idx="2">
                <c:v>distant</c:v>
              </c:pt>
            </c:strLit>
          </c:cat>
          <c:val>
            <c:numLit>
              <c:formatCode>0.0000</c:formatCode>
              <c:ptCount val="3"/>
              <c:pt idx="0">
                <c:v>0.5082</c:v>
              </c:pt>
              <c:pt idx="1">
                <c:v>0.5164</c:v>
              </c:pt>
              <c:pt idx="2">
                <c:v>0.4053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6"/>
          <c:min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BB63-1029-4ECB-9453-2001399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组会汇报 · 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47BD2-1573-4CB2-A963-3D8B2B6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810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已完成实验：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长尾支撑动力学与恢复结果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50634-C138-4131-8144-C99B173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FDBEB-D3AF-4E01-BB25-6A8954F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实验怎么设计、跑出了什么、结论到哪一步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6D68-9E2C-40B2-B7DD-D95FFA8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ICLR 2025 启发 · CIFAR-100 已完成实验</a:t>
            </a:r>
          </a:p>
        </p:txBody>
      </p:sp>
    </p:spTree>
    <p:extLst>
      <p:ext uri="{BB962C8B-B14F-4D97-AF65-F5344CB8AC3E}">
        <p14:creationId xmlns:p14="http://schemas.microsoft.com/office/powerpoint/2010/main" val="2067893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3093F-777C-4B35-9328-385675B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实验总览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BF37E-2D54-4D1E-B341-AC7CC4E7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 组已完成实验：从现象、控制到恢复与反证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ECAF-344A-4D1C-9C43-2D18451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53D02-06B5-4227-9D01-C841B12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1997D-E2C8-4A47-85F5-0D270925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13DED-A93C-4DF9-BF01-55BDFEB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58741-62A0-4298-94CB-4451DFD7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支撑动力学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38A3-4C61-4B97-8F31-E30D3E8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5 环境 + 秩交换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确认频率响应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AEA3F-689C-4CA2-8672-5017525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740C3-D52F-4A6C-92F3-9E8F86A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7CDD-38ED-4994-BDCB-4659554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无泄漏频率轨迹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3FDB3-F6DD-4220-9E1B-AFE9815D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8 节点、固定 98 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筛选稳定指标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0CD6B-8284-4573-A8E3-391DE7D5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F7D1B-60E9-4577-A2B6-2B17D7A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1C1B5-2565-4953-BF75-41F1863D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可训练恢复 v1→v3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8A844-EE23-4163-9290-207A6A5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BN 调试 + 公平对照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验证几何可恢复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E5D31-2FFF-4B71-A871-C92A7BD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E81A8-CFD4-4DE0-81A8-6B69DBA4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658EA-F4DC-4E7D-B078-584CB7E0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供体正式对照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29C7F-2AB2-42D5-AA00-B865EB77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100 类 × 3 seeds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检验供体强假设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70CB0-B6E3-4BD3-8E5B-83EE816D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11410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67FB5-01C3-43C2-BFE8-E7E22EAD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论文只提供一个实验问题：样本数变化，是否会系统改变类内支撑几何？</a:t>
            </a:r>
          </a:p>
        </p:txBody>
      </p:sp>
    </p:spTree>
    <p:extLst>
      <p:ext uri="{BB962C8B-B14F-4D97-AF65-F5344CB8AC3E}">
        <p14:creationId xmlns:p14="http://schemas.microsoft.com/office/powerpoint/2010/main" val="766589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CC6BF-7CCD-497E-B5B2-474E453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实验总览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31EE8-C2D7-4129-BD6C-C6F0BFF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三道共同控制：数据隔离、反事实、固定评价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1DD03-6799-4FB0-8221-FCDDB923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4302-6D9D-4795-A880-4630F93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41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 400 ｜ calibration 100 ｜ test 仅最终评价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F991-79E0-43D6-80C4-7174404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979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EAAA9-6237-43BE-B1B1-625E7E9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352D7-A1CA-44F7-9147-4EFDEA4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1DB99-E728-4D33-8013-2EBA562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每类固定 400 张训练池 + 100 张校准池；官方测试集不参与选邻居、调参或支撑估计。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02EBC-0FBD-48FC-9642-3E3B367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反事实控制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CA08C-99ED-4581-B009-CA04BCEE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57550"/>
            <a:ext cx="3333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DB466-7728-4C8C-8A02-6654EC3E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只改变目标类频率角色；固定其余 98 类的样本数、具体图像、初始化与训练轮数。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5451-FC20-45C6-A3F6-8F534F3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统一几何评价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DBD3E-D21F-40AF-9CC3-32EE3F3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3333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89EC1-03C0-47A3-9B8F-2220142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在同一平衡评估协议上测 q50、q95、tangent trace；训练样本数不直接当作支撑宽度。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D41DF-8B77-4514-8AD7-C35CC46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410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A6561-0BE6-4552-9897-719A64B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2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不展示 smoke 结果｜单类别对 × 单 seed 标为机制试验｜100 类 × 3 seeds 才视为正式对照</a:t>
            </a:r>
          </a:p>
        </p:txBody>
      </p:sp>
    </p:spTree>
    <p:extLst>
      <p:ext uri="{BB962C8B-B14F-4D97-AF65-F5344CB8AC3E}">
        <p14:creationId xmlns:p14="http://schemas.microsoft.com/office/powerpoint/2010/main" val="671951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4DCF-D7FE-41BC-9F53-598B92C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9AE7-5D94-40EB-B922-7A6FEA9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1：完整支撑将恢复误差降低 90.01%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0D72-0142-4859-B634-94860C5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F83F-EB7A-4340-9974-252E983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a958bf473d41f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4D35-2738-4AD3-B722-0095E97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类别不相交恢复：5→500 NMAE（↓）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7B35B-5556-4761-97CD-9E272B6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5×100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A588-1599-4DC2-ABB8-25DF33A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同直方图；5/20/50/200/500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固定评估 + 类别不相交五折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2D48-2632-4209-822D-4DAE557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0.7878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D711-2921-4D60-A00C-35FB7CE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full_support_ridge NMAE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identity = 7.8878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0D95E-B2B8-4F27-BA67-FEFC6A6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524A-2F29-49CF-A204-CD5B8A5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结果：NMAE 下降 90.01%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100% 类别改善；cap 再降 80.7%</a:t>
            </a:r>
          </a:p>
        </p:txBody>
      </p:sp>
    </p:spTree>
    <p:extLst>
      <p:ext uri="{BB962C8B-B14F-4D97-AF65-F5344CB8AC3E}">
        <p14:creationId xmlns:p14="http://schemas.microsoft.com/office/powerpoint/2010/main" val="139174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4DCF-D7FE-41BC-9F53-598B92C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9AE7-5D94-40EB-B922-7A6FEA9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2：头尾秩交换在两个 seed 中响应同向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0D72-0142-4859-B634-94860C5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F83F-EB7A-4340-9974-252E983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cc20765e06422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4D35-2738-4AD3-B722-0095E97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A/B 响应余弦（500-shot ↔ 5-shot）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7B35B-5556-4761-97CD-9E272B6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seeds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A588-1599-4DC2-ABB8-25DF33A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同一 IF=100 直方图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仅 A/B 交换头尾身份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2D48-2632-4209-822D-4DAE557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0.7068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D711-2921-4D60-A00C-35FB7CE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A/B 响应余弦均值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平均符号一致率 90%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0D95E-B2B8-4F27-BA67-FEFC6A6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524A-2F29-49CF-A204-CD5B8A5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结果：两个 seed 均为正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 1 个类别对，属初步证据</a:t>
            </a:r>
          </a:p>
        </p:txBody>
      </p:sp>
    </p:spTree>
    <p:extLst>
      <p:ext uri="{BB962C8B-B14F-4D97-AF65-F5344CB8AC3E}">
        <p14:creationId xmlns:p14="http://schemas.microsoft.com/office/powerpoint/2010/main" val="139174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4DCF-D7FE-41BC-9F53-598B92C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9AE7-5D94-40EB-B922-7A6FEA9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3：八节点轨迹中，粗粒度指标最稳定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0D72-0142-4859-B634-94860C5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F83F-EB7A-4340-9974-252E983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4125f275a4dc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4D35-2738-4AD3-B722-0095E97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A/B 八节点轨迹余弦（seed 42）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7B35B-5556-4761-97CD-9E272B6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A588-1599-4DC2-ABB8-25DF33A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400→208→…→4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固定其余 98 类与图像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2D48-2632-4209-822D-4DAE557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D711-2921-4D60-A00C-35FB7CE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组合方向一致率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轨迹余弦 0.925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0D95E-B2B8-4F27-BA67-FEFC6A6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524A-2F29-49CF-A204-CD5B8A5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结果：细粒度谱余弦 -0.199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方向仅 28.6%，不作恢复监督</a:t>
            </a:r>
          </a:p>
        </p:txBody>
      </p:sp>
    </p:spTree>
    <p:extLst>
      <p:ext uri="{BB962C8B-B14F-4D97-AF65-F5344CB8AC3E}">
        <p14:creationId xmlns:p14="http://schemas.microsoft.com/office/powerpoint/2010/main" val="139174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A613-B847-4D2F-A1AE-F3EFD6BD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08CB-DA30-428F-8064-B061375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4：BatchNorm 漂移导致 v1 背景类崩溃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7B5D6-FB96-4A6F-93F6-42B4EE6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935B2-0C7A-4815-A8CD-6F8A3D0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v1 · 失败实验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118AC-2B85-409A-BEEA-7EDFF64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FBD16-8688-4167-A6D4-6A0DA81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张尾类图像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强增强产生相关视图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034B-6FA1-4F94-84A2-BA11257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9CAD2-96A3-4852-A4C7-E0985F0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layer3 BatchNorm 运行统计漂移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B0AD8-69FC-4FE9-B859-C020676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96919-628C-493E-A172-76E1605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5E19F-269E-4F3F-B271-DB9CD2AC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其他 99 类 -8 至 -9.5 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连 oracle 支撑也失败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E4B6-123E-41EE-847B-75C8982F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v3 · 修复实验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84C8E-C02D-4910-B1D0-1BDFAB55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03CC5-57D1-44BF-9666-8FEE5225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 layer3 BN 统计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更小 layer3 学习率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EB327-C2E9-49DE-9679-C7A7B303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08864-5B25-4D8C-815B-A7B3171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更强背景保持 + 更低尾类 CE 权重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677C7-DFBB-47D5-8C31-2603033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5918C-11E4-4C75-A0CA-3B61835B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425C2-E212-4AB2-AA5A-D3B4A53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oracle 双向门控通过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 +11 / +7；背景 +0.02 / -0.12</a:t>
            </a:r>
          </a:p>
        </p:txBody>
      </p:sp>
    </p:spTree>
    <p:extLst>
      <p:ext uri="{BB962C8B-B14F-4D97-AF65-F5344CB8AC3E}">
        <p14:creationId xmlns:p14="http://schemas.microsoft.com/office/powerpoint/2010/main" val="747544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5DBAC-F408-4228-83F4-072444C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8A96E-4BC1-4338-9BEC-540BF914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5：v3 拉近 oracle，但准确率未超对照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3053-1564-446A-A914-3193B129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CBF13-F13D-4C1A-A38A-826EE661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847850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02e4dd2da54a0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D0211-0404-4250-B4ED-C642EBC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双向平均 oracle 几何距离（↓）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4F17-4AA2-4628-BCBD-8A98444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0.231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F4A12-6B91-49AA-B26E-7D1F0D5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到 oracle 头支撑的几何距离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四种公平对照中最小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25B4-EE14-4849-9749-7561B31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+1.5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C3A17-57CB-4478-B271-2923694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固定线性探针平均提升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其他 99 类仅 -0.020 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0AD99-1B7C-4E3A-B99E-1606C59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A0C80-5C64-43E9-BF15-703125C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边界：目标准确率 10.0%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&lt; classifier_only 11.5%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E06D0-D2BA-4534-8036-556E339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范围：1 个类别对 × 1 个 seed；仅作机制试验</a:t>
            </a:r>
          </a:p>
        </p:txBody>
      </p:sp>
    </p:spTree>
    <p:extLst>
      <p:ext uri="{BB962C8B-B14F-4D97-AF65-F5344CB8AC3E}">
        <p14:creationId xmlns:p14="http://schemas.microsoft.com/office/powerpoint/2010/main" val="152720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DB526-3B61-4A2E-BBC5-A0E76948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BF8DD-34E0-4475-8E75-AB146AB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 6：正式对照否定“最近邻一定最好”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5829-3E13-45C4-8DAA-833D466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B2614-6962-4C15-9459-0A13AED8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04850" y="1847850"/>
          <a:ext xmlns:a="http://schemas.openxmlformats.org/drawingml/2006/main" cx="5829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e37dfd2784f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5076-AA75-445B-A81A-DE6762E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100 类 × 3 seeds：稳定支撑轨迹余弦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CDCB-DEE6-4BAA-8453-A201100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similar - random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EBE13-036C-4438-9625-A694D31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E56E0-283C-46EF-AD94-C86AAF10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95% CI [-0.0336, 0.0170] · p = 0.739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79A3F-99BF-4FFE-BC17-1DB92370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88B9-2BFC-4026-A468-639FD68C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similar - distant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F7985-DB92-4C06-8E64-822FB72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+0.1029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35797-40D5-48F7-8C7F-109B926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95% CI [0.0715, 0.1339] · p &lt; 0.00002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56276-E679-4E59-9E72-F301E328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FF02B-F2A0-4951-88A0-B596E30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结果：远距离供体应排除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最近邻与随机整体相当</a:t>
            </a:r>
          </a:p>
        </p:txBody>
      </p:sp>
    </p:spTree>
    <p:extLst>
      <p:ext uri="{BB962C8B-B14F-4D97-AF65-F5344CB8AC3E}">
        <p14:creationId xmlns:p14="http://schemas.microsoft.com/office/powerpoint/2010/main" val="55287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8D05D-51EF-4BAC-9AA8-3445531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03 · 当前结论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894EC-1989-46C7-8F1A-C805C1E9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最终得到：机制证据链成立，方法闭环仍未完成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3D3C9-18A5-4C51-BB59-2E82AB97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562100"/>
          <a:ext xmlns:a="http://schemas.openxmlformats.org/drawingml/2006/main" cx="1141095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2873"/>
                <a:gridCol w="4890407"/>
                <a:gridCol w="2037670"/>
              </a:tblGrid>
              <a:tr h="76581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实验结论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证据等级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频率变化会改变类内支撑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环境 + 秩交换；恢复 NMAE -90.01%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114300" marR="114300" marT="95250" marB="95250" anchor="ctr">
                    <a:solidFill>
                      <a:srgbClr val="EAF5F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粗支撑轨迹可跨类共享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八节点组合余弦 0.925；方向 95.2%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初步支持</a:t>
                      </a:r>
                    </a:p>
                  </a:txBody>
                  <a:tcPr marL="114300" marR="114300" marT="95250" marB="95250" anchor="ctr">
                    <a:solidFill>
                      <a:srgbClr val="EAF5F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支撑损失可恢复几何且保背景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v3 距离 0.231；探针 +1.5；背景 -0.020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初步支持</a:t>
                      </a:r>
                    </a:p>
                  </a:txBody>
                  <a:tcPr marL="114300" marR="114300" marT="95250" marB="95250" anchor="ctr">
                    <a:solidFill>
                      <a:srgbClr val="EAF5F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最近邻供体优于随机供体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similar-random -0.0082，p=0.739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</a:t>
                      </a:r>
                    </a:p>
                  </a:txBody>
                  <a:tcPr marL="114300" marR="114300" marT="95250" marB="95250" anchor="ctr">
                    <a:solidFill>
                      <a:srgbClr val="F7E7E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03D1-8CAF-4794-BB76-047413D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41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C9EFF-1000-4036-9AB4-D823C59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6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没有包装成已完成的方法：准确率闭环未完成，正式证据只支持“远距离应排除”</a:t>
            </a:r>
          </a:p>
        </p:txBody>
      </p:sp>
    </p:spTree>
    <p:extLst>
      <p:ext uri="{BB962C8B-B14F-4D97-AF65-F5344CB8AC3E}">
        <p14:creationId xmlns:p14="http://schemas.microsoft.com/office/powerpoint/2010/main" val="617320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2026-08-04T06:06:50.6900000Z</dcterms:created>
  <dcterms:modified xsi:type="dcterms:W3CDTF">2026-08-04T06:06:50.6900000Z</dcterms:modified>
</coreProperties>
</file>