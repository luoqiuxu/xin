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af41b30bb4909" /><Relationship Type="http://schemas.openxmlformats.org/officeDocument/2006/relationships/extended-properties" Target="/docProps/app.xml" Id="Rac2e4bab62be4947" /><Relationship Type="http://schemas.openxmlformats.org/officeDocument/2006/relationships/officeDocument" Target="/ppt/presentation.xml" Id="R004b0c1d7ffc49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198bff96184c79"/>
  </p:sldMasterIdLst>
  <p:notesMasterIdLst>
    <p:notesMasterId xmlns:r="http://schemas.openxmlformats.org/officeDocument/2006/relationships" r:id="R24e2272efd7447a2"/>
  </p:notesMasterIdLst>
  <p:sldIdLst>
    <p:sldId xmlns:r="http://schemas.openxmlformats.org/officeDocument/2006/relationships" id="256" r:id="R3800c0586c1644d8"/>
    <p:sldId xmlns:r="http://schemas.openxmlformats.org/officeDocument/2006/relationships" id="257" r:id="Rf543a9ae42cc46bf"/>
    <p:sldId xmlns:r="http://schemas.openxmlformats.org/officeDocument/2006/relationships" id="258" r:id="R852fa3511a634281"/>
    <p:sldId xmlns:r="http://schemas.openxmlformats.org/officeDocument/2006/relationships" id="259" r:id="R8085c151eb704d3c"/>
    <p:sldId xmlns:r="http://schemas.openxmlformats.org/officeDocument/2006/relationships" id="260" r:id="R2e518cac5c3949f4"/>
    <p:sldId xmlns:r="http://schemas.openxmlformats.org/officeDocument/2006/relationships" id="261" r:id="R84d8dba465ed4513"/>
    <p:sldId xmlns:r="http://schemas.openxmlformats.org/officeDocument/2006/relationships" id="262" r:id="R13a4d95159864443"/>
    <p:sldId xmlns:r="http://schemas.openxmlformats.org/officeDocument/2006/relationships" id="263" r:id="Rdbf553c29de843c1"/>
    <p:sldId xmlns:r="http://schemas.openxmlformats.org/officeDocument/2006/relationships" id="264" r:id="Re6aff98cf40441f8"/>
    <p:sldId xmlns:r="http://schemas.openxmlformats.org/officeDocument/2006/relationships" id="265" r:id="Rd2d55e30296d4fc4"/>
    <p:sldId xmlns:r="http://schemas.openxmlformats.org/officeDocument/2006/relationships" id="266" r:id="Ra94fce53c1f24c75"/>
    <p:sldId xmlns:r="http://schemas.openxmlformats.org/officeDocument/2006/relationships" id="267" r:id="R48c036bd0a0c4b28"/>
    <p:sldId xmlns:r="http://schemas.openxmlformats.org/officeDocument/2006/relationships" id="268" r:id="R7ba96df917e1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8cbf8fe00c453d" /><Relationship Type="http://schemas.openxmlformats.org/officeDocument/2006/relationships/slideMaster" Target="/ppt/slideMasters/slideMaster1.xml" Id="Rb8198bff96184c79" /><Relationship Type="http://schemas.openxmlformats.org/officeDocument/2006/relationships/notesMaster" Target="/ppt/notesMasters/notesMaster1.xml" Id="R24e2272efd7447a2" /><Relationship Type="http://schemas.openxmlformats.org/officeDocument/2006/relationships/presProps" Target="/ppt/presProps.xml" Id="R6a2140848ac144dc" /><Relationship Type="http://schemas.openxmlformats.org/officeDocument/2006/relationships/tableStyles" Target="/ppt/tableStyles.xml" Id="Raa0b0042000348b3" /><Relationship Type="http://schemas.openxmlformats.org/officeDocument/2006/relationships/slide" Target="/ppt/slides/slide1.xml" Id="R3800c0586c1644d8" /><Relationship Type="http://schemas.openxmlformats.org/officeDocument/2006/relationships/slide" Target="/ppt/slides/slide2.xml" Id="Rf543a9ae42cc46bf" /><Relationship Type="http://schemas.openxmlformats.org/officeDocument/2006/relationships/slide" Target="/ppt/slides/slide3.xml" Id="R852fa3511a634281" /><Relationship Type="http://schemas.openxmlformats.org/officeDocument/2006/relationships/slide" Target="/ppt/slides/slide4.xml" Id="R8085c151eb704d3c" /><Relationship Type="http://schemas.openxmlformats.org/officeDocument/2006/relationships/slide" Target="/ppt/slides/slide5.xml" Id="R2e518cac5c3949f4" /><Relationship Type="http://schemas.openxmlformats.org/officeDocument/2006/relationships/slide" Target="/ppt/slides/slide6.xml" Id="R84d8dba465ed4513" /><Relationship Type="http://schemas.openxmlformats.org/officeDocument/2006/relationships/slide" Target="/ppt/slides/slide7.xml" Id="R13a4d95159864443" /><Relationship Type="http://schemas.openxmlformats.org/officeDocument/2006/relationships/slide" Target="/ppt/slides/slide8.xml" Id="Rdbf553c29de843c1" /><Relationship Type="http://schemas.openxmlformats.org/officeDocument/2006/relationships/slide" Target="/ppt/slides/slide9.xml" Id="Re6aff98cf40441f8" /><Relationship Type="http://schemas.openxmlformats.org/officeDocument/2006/relationships/slide" Target="/ppt/slides/slide10.xml" Id="Rd2d55e30296d4fc4" /><Relationship Type="http://schemas.openxmlformats.org/officeDocument/2006/relationships/slide" Target="/ppt/slides/slide11.xml" Id="Ra94fce53c1f24c75" /><Relationship Type="http://schemas.openxmlformats.org/officeDocument/2006/relationships/slide" Target="/ppt/slides/slide12.xml" Id="R48c036bd0a0c4b28" /><Relationship Type="http://schemas.openxmlformats.org/officeDocument/2006/relationships/slide" Target="/ppt/slides/slide13.xml" Id="R7ba96df917e1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f8548491c44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ec727fdd824238" /><Relationship Type="http://schemas.openxmlformats.org/officeDocument/2006/relationships/notesMaster" Target="/ppt/notesMasters/notesMaster1.xml" Id="R1b61ce396afb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623fda30be49e2" /><Relationship Type="http://schemas.openxmlformats.org/officeDocument/2006/relationships/notesMaster" Target="/ppt/notesMasters/notesMaster1.xml" Id="R9f5e56376e31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de87b91bb644ec" /><Relationship Type="http://schemas.openxmlformats.org/officeDocument/2006/relationships/notesMaster" Target="/ppt/notesMasters/notesMaster1.xml" Id="Re32d843a1aae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5f5fb973d48b8" /><Relationship Type="http://schemas.openxmlformats.org/officeDocument/2006/relationships/notesMaster" Target="/ppt/notesMasters/notesMaster1.xml" Id="Ra723f901deb2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eb15f529b4466" /><Relationship Type="http://schemas.openxmlformats.org/officeDocument/2006/relationships/notesMaster" Target="/ppt/notesMasters/notesMaster1.xml" Id="R0c15f65213d148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60dfbe7c5443e9" /><Relationship Type="http://schemas.openxmlformats.org/officeDocument/2006/relationships/notesMaster" Target="/ppt/notesMasters/notesMaster1.xml" Id="R3723fcc0bef2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4aa78b7e084081" /><Relationship Type="http://schemas.openxmlformats.org/officeDocument/2006/relationships/notesMaster" Target="/ppt/notesMasters/notesMaster1.xml" Id="Rda9acb862a08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3f50c9f7a84814" /><Relationship Type="http://schemas.openxmlformats.org/officeDocument/2006/relationships/notesMaster" Target="/ppt/notesMasters/notesMaster1.xml" Id="R519087c2704544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fac56af5754f15" /><Relationship Type="http://schemas.openxmlformats.org/officeDocument/2006/relationships/notesMaster" Target="/ppt/notesMasters/notesMaster1.xml" Id="R1fc1d283a0d34d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322b68f3be450f" /><Relationship Type="http://schemas.openxmlformats.org/officeDocument/2006/relationships/notesMaster" Target="/ppt/notesMasters/notesMaster1.xml" Id="R414b1cd85ee745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3f5a4f3d5a4e8f" /><Relationship Type="http://schemas.openxmlformats.org/officeDocument/2006/relationships/notesMaster" Target="/ppt/notesMasters/notesMaster1.xml" Id="R0710bb0a382f42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b44c889d1a4fa2" /><Relationship Type="http://schemas.openxmlformats.org/officeDocument/2006/relationships/notesMaster" Target="/ppt/notesMasters/notesMaster1.xml" Id="R91c873796b7444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e9e599fee54adb" /><Relationship Type="http://schemas.openxmlformats.org/officeDocument/2006/relationships/notesMaster" Target="/ppt/notesMasters/notesMaster1.xml" Id="Rf9051d244a0f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开场先给出汇报主线：论文提供几何解释，我们把它进一步转化为可检验的频率-支撑动力学与恢复实验。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D:\xiangmuxunlian\新\ICLR-2025-geometry-of-long-tailed-representation-learning-rebalancing-features-for-skewed-distributions-Paper-Conference.pdf (title and abstract)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这里不要陷入公式细节，重点解释论文首次给出不平衡因子与最优中心夹角之间的解析关系，并导出尾类坍缩阈值。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D:\xiangmuxunlian\新\ICLR-2025-geometry-of-long-tailed-representation-learning-rebalancing-features-for-skewed-distributions-Paper-Conference.pdf pp. 2, 4-6; Figure 1; Theorem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强调三个技术创新：球面置信支撑、相似头类统计正则、在支撑内生成特征并迭代重估。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D:\xiangmuxunlian\新\ICLR-2025-geometry-of-long-tailed-representation-learning-rebalancing-features-for-skewed-distributions-Paper-Conference.pdf pp. 6-8; Figure 4; Eqs. 7-13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这页完成论文到我们工作的过渡。不是重复 FeatRecon，而是把它的支撑概念变成动态、反事实、可验证的研究问题。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D:\xiangmuxunlian\新\ICLR-2025-geometry-of-long-tailed-representation-learning-rebalancing-features-for-skewed-distributions-Paper-Conference.pdf pp. 2, 6-8</a:t>
            </a:r>
          </a:p>
          <a:p xmlns:a="http://schemas.openxmlformats.org/drawingml/2006/main">
            <a:r>
              <a:t>- D:\xiangmuxunlian\新\xiangfa\EXPERIMENT_DESIGN.md</a:t>
            </a:r>
          </a:p>
          <a:p xmlns:a="http://schemas.openxmlformats.org/drawingml/2006/main">
            <a:r>
              <a:t>- D:\xiangmuxunlian\新\xiangfa\TRAINABLE_RECOVERY_DESIGN.md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图表用 BCL 作为代表性强基线。强调：全局提升不大，但 few-shot 类更明显；消融也显示简单上采样无效，真正有效的是合成支撑。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D:\xiangmuxunlian\新\ICLR-2025-geometry-of-long-tailed-representation-learning-rebalancing-features-for-skewed-distributions-Paper-Conference.pdf pp. 8-10; Tables 1, 2,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按时间顺序讲清楚为什么实验不是一次完成的：每一步解决上一阶段留下的替代解释。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D:\xiangmuxunlian\新\xiangfa\outputs\support_dynamics\report.md</a:t>
            </a:r>
          </a:p>
          <a:p xmlns:a="http://schemas.openxmlformats.org/drawingml/2006/main">
            <a:r>
              <a:t>- D:\xiangmuxunlian\新\xiangfa\outputs\lt_rank_swap\report.md</a:t>
            </a:r>
          </a:p>
          <a:p xmlns:a="http://schemas.openxmlformats.org/drawingml/2006/main">
            <a:r>
              <a:t>- D:\xiangmuxunlian\新\xiangfa\V3_PILOT_REPORT.md</a:t>
            </a:r>
          </a:p>
          <a:p xmlns:a="http://schemas.openxmlformats.org/drawingml/2006/main">
            <a:r>
              <a:t>- D:\xiangmuxunlian\新\xiangfa\DONOR_CONTROL_REPORT.md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这一页用来建立实验可信度。突出训练池/校准池/测试集三者职责，以及同初始化、固定背景类的反事实设计。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D:\xiangmuxunlian\新\xiangfa\TRAINABLE_RECOVERY_DESIGN.md</a:t>
            </a:r>
          </a:p>
          <a:p xmlns:a="http://schemas.openxmlformats.org/drawingml/2006/main">
            <a:r>
              <a:t>- D:\xiangmuxunlian\新\xiangfa\outputs\leakage_free_frequency_sweep\design_audit.json</a:t>
            </a:r>
          </a:p>
          <a:p xmlns:a="http://schemas.openxmlformats.org/drawingml/2006/main">
            <a:r>
              <a:t>- D:\xiangmuxunlian\新\xiangfa\outputs\leakage_free_frequency_sweep\split_audit.json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完整十维轨迹噪声较大；真正稳定的是 q50、q95 与总体切向方差。说明恢复监督应选择粗粒度结构，而不是强行迁移细粒度谱形状。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D:\xiangmuxunlian\新\xiangfa\outputs\leakage_free_frequency_sweep\stable_metric_analysis.json</a:t>
            </a:r>
          </a:p>
          <a:p xmlns:a="http://schemas.openxmlformats.org/drawingml/2006/main">
            <a:r>
              <a:t>- D:\xiangmuxunlian\新\xiangfa\outputs\lt_rank_swap\report.md</a:t>
            </a:r>
          </a:p>
          <a:p xmlns:a="http://schemas.openxmlformats.org/drawingml/2006/main">
            <a:r>
              <a:t>- D:\xiangmuxunlian\新\xiangfa\outputs\support_dynamics\report.md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先讲正面结果：similar support 确实让几何更接近 oracle，并改善探针；再讲边界：目标准确率并未超过分类器对照，不能宣称完整闭环成功。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D:\xiangmuxunlian\新\xiangfa\V3_PILOT_REPORT.md</a:t>
            </a:r>
          </a:p>
          <a:p xmlns:a="http://schemas.openxmlformats.org/drawingml/2006/main">
            <a:r>
              <a:t>- D:\xiangmuxunlian\新\xiangfa\outputs\trainable_support_recovery_v3\results.csv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这不是实现细节，而是机制结论：极少样本恢复时，BatchNorm 状态是背景类别灾难性遗忘的主要通道。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D:\xiangmuxunlian\新\xiangfa\V3_PILOT_REPORT.md (闭环调试结论)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这是目前统计证据最强的一页。必须明确：强假设 similar &gt; random &gt; distant 被否定；可靠的弱结论是 distant 明显更差。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D:\xiangmuxunlian\新\xiangfa\DONOR_CONTROL_REPORT.md</a:t>
            </a:r>
          </a:p>
          <a:p xmlns:a="http://schemas.openxmlformats.org/drawingml/2006/main">
            <a:r>
              <a:t>- D:\xiangmuxunlian\新\xiangfa\outputs\latin_donor_trajectory_controls\aggregate_hypothesis_test.json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用证据等级收束汇报，避免把单种子机制结果和三种子正式结果混为一谈。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D:\xiangmuxunlian\新\xiangfa\outputs\support_dynamics\report.md</a:t>
            </a:r>
          </a:p>
          <a:p xmlns:a="http://schemas.openxmlformats.org/drawingml/2006/main">
            <a:r>
              <a:t>- D:\xiangmuxunlian\新\xiangfa\V3_PILOT_REPORT.md</a:t>
            </a:r>
          </a:p>
          <a:p xmlns:a="http://schemas.openxmlformats.org/drawingml/2006/main">
            <a:r>
              <a:t>- D:\xiangmuxunlian\新\xiangfa\DONOR_CONTROL_REPORT.md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以明确的最小验证闭环结束：先做同协议 cRT，再扩种子/类别对，最后更新供体策略。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D:\xiangmuxunlian\新\xiangfa\V3_PILOT_REPORT.md (下一步最小验证)</a:t>
            </a:r>
          </a:p>
          <a:p xmlns:a="http://schemas.openxmlformats.org/drawingml/2006/main">
            <a:r>
              <a:t>- D:\xiangmuxunlian\新\xiangfa\DONOR_CONTROL_REPORT.md (方法调整建议)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c9166a5c34a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ad0fc2fe24254" /><Relationship Type="http://schemas.openxmlformats.org/officeDocument/2006/relationships/slideLayout" Target="/ppt/slideLayouts/slideLayout1.xml" Id="R19ebb3927c11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bb3927c11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29ded361d419b" /><Relationship Type="http://schemas.openxmlformats.org/officeDocument/2006/relationships/notesSlide" Target="/ppt/notesSlides/notesSlide1.xml" Id="Rd28f156272da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ad746267e4c45" /><Relationship Type="http://schemas.openxmlformats.org/officeDocument/2006/relationships/image" Target="/ppt/media/image.png" Id="R404903251aec492b" /><Relationship Type="http://schemas.openxmlformats.org/officeDocument/2006/relationships/notesSlide" Target="/ppt/notesSlides/notesSlide2.xml" Id="Rb79aa87c1f91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06b0f8ebc4ed4" /><Relationship Type="http://schemas.openxmlformats.org/officeDocument/2006/relationships/image" Target="/ppt/media/image2.png" Id="R663318248ef24ee0" /><Relationship Type="http://schemas.openxmlformats.org/officeDocument/2006/relationships/notesSlide" Target="/ppt/notesSlides/notesSlide3.xml" Id="R21e3d4583bd3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be8edcdd4fca" /><Relationship Type="http://schemas.openxmlformats.org/officeDocument/2006/relationships/notesSlide" Target="/ppt/notesSlides/notesSlide4.xml" Id="Rc6be443a9a0b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b71a2a71742b3" /><Relationship Type="http://schemas.openxmlformats.org/officeDocument/2006/relationships/chart" Target="/ppt/slides/charts/chart1.xml" Id="R9e3f5e788ba349ad" /><Relationship Type="http://schemas.openxmlformats.org/officeDocument/2006/relationships/notesSlide" Target="/ppt/notesSlides/notesSlide5.xml" Id="Rd4c750c427504d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ffef97ab7479c" /><Relationship Type="http://schemas.openxmlformats.org/officeDocument/2006/relationships/notesSlide" Target="/ppt/notesSlides/notesSlide6.xml" Id="R05237d23d4e4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ecdb16a224998" /><Relationship Type="http://schemas.openxmlformats.org/officeDocument/2006/relationships/notesSlide" Target="/ppt/notesSlides/notesSlide7.xml" Id="Rd00a9483fccf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0ef889552411c" /><Relationship Type="http://schemas.openxmlformats.org/officeDocument/2006/relationships/chart" Target="/ppt/slides/charts/chart2.xml" Id="R6f1018e795764516" /><Relationship Type="http://schemas.openxmlformats.org/officeDocument/2006/relationships/notesSlide" Target="/ppt/notesSlides/notesSlide8.xml" Id="Rae69ebc16bc348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65ec23cfe4414" /><Relationship Type="http://schemas.openxmlformats.org/officeDocument/2006/relationships/chart" Target="/ppt/slides/charts/chart3.xml" Id="R142873cdc91048b5" /><Relationship Type="http://schemas.openxmlformats.org/officeDocument/2006/relationships/notesSlide" Target="/ppt/notesSlides/notesSlide9.xml" Id="R70e5768950a149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d4482ba3b457b" /><Relationship Type="http://schemas.openxmlformats.org/officeDocument/2006/relationships/notesSlide" Target="/ppt/notesSlides/notesSlide10.xml" Id="Rb9893afd07dd4a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911ee4804414" /><Relationship Type="http://schemas.openxmlformats.org/officeDocument/2006/relationships/chart" Target="/ppt/slides/charts/chart4.xml" Id="Rc63d3ecdbf6d4490" /><Relationship Type="http://schemas.openxmlformats.org/officeDocument/2006/relationships/notesSlide" Target="/ppt/notesSlides/notesSlide11.xml" Id="Rf535438e58e24f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c4038580046a3" /><Relationship Type="http://schemas.openxmlformats.org/officeDocument/2006/relationships/notesSlide" Target="/ppt/notesSlides/notesSlide12.xml" Id="Rfab2968cfa1a49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f4ff79e1545b1" /><Relationship Type="http://schemas.openxmlformats.org/officeDocument/2006/relationships/notesSlide" Target="/ppt/notesSlides/notesSlide13.xml" Id="R5c215f7bce994a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BCL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IF=100</c:v>
              </c:pt>
              <c:pt idx="1">
                <c:v>IF=50</c:v>
              </c:pt>
              <c:pt idx="2">
                <c:v>IF=10</c:v>
              </c:pt>
            </c:strLit>
          </c:cat>
          <c:val>
            <c:numLit>
              <c:formatCode>0.0</c:formatCode>
              <c:ptCount val="3"/>
              <c:pt idx="0">
                <c:v>51.8</c:v>
              </c:pt>
              <c:pt idx="1">
                <c:v>56.6</c:v>
              </c:pt>
              <c:pt idx="2">
                <c:v>64.9</c:v>
              </c:pt>
            </c:numLit>
          </c:val>
        </c:ser>
        <c:ser>
          <c:idx val="1"/>
          <c:order val="1"/>
          <c:tx>
            <c:v>FeatRecon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IF=100</c:v>
              </c:pt>
              <c:pt idx="1">
                <c:v>IF=50</c:v>
              </c:pt>
              <c:pt idx="2">
                <c:v>IF=10</c:v>
              </c:pt>
            </c:strLit>
          </c:cat>
          <c:val>
            <c:numLit>
              <c:formatCode>0.0</c:formatCode>
              <c:ptCount val="3"/>
              <c:pt idx="0">
                <c:v>52.5</c:v>
              </c:pt>
              <c:pt idx="1">
                <c:v>57</c:v>
              </c:pt>
              <c:pt idx="2">
                <c:v>65.3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8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轨迹余弦</c:v>
          </c:tx>
          <c:spPr>
            <a:solidFill xmlns:a="http://schemas.openxmlformats.org/drawingml/2006/main">
              <a:srgbClr val="3D8D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4FAFA5"/>
              </a:solidFill>
            </c:spPr>
          </c:dPt>
          <c:cat>
            <c:strLit>
              <c:ptCount val="4"/>
              <c:pt idx="0">
                <c:v>q50</c:v>
              </c:pt>
              <c:pt idx="1">
                <c:v>q95</c:v>
              </c:pt>
              <c:pt idx="2">
                <c:v>trace</c:v>
              </c:pt>
              <c:pt idx="3">
                <c:v>组合</c:v>
              </c:pt>
            </c:strLit>
          </c:cat>
          <c:val>
            <c:numLit>
              <c:formatCode>0.000</c:formatCode>
              <c:ptCount val="4"/>
              <c:pt idx="0">
                <c:v>0.846</c:v>
              </c:pt>
              <c:pt idx="1">
                <c:v>0.927</c:v>
              </c:pt>
              <c:pt idx="2">
                <c:v>0.972</c:v>
              </c:pt>
              <c:pt idx="3">
                <c:v>0.925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目标准确率</c:v>
          </c:tx>
          <c:spPr>
            <a:solidFill xmlns:a="http://schemas.openxmlformats.org/drawingml/2006/main">
              <a:srgbClr val="D0EDFA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classifier</c:v>
              </c:pt>
              <c:pt idx="1">
                <c:v>aug-FT</c:v>
              </c:pt>
              <c:pt idx="2">
                <c:v>self</c:v>
              </c:pt>
              <c:pt idx="3">
                <c:v>similar</c:v>
              </c:pt>
            </c:strLit>
          </c:cat>
          <c:val>
            <c:numLit>
              <c:formatCode>0.0</c:formatCode>
              <c:ptCount val="4"/>
              <c:pt idx="0">
                <c:v>11.5</c:v>
              </c:pt>
              <c:pt idx="1">
                <c:v>10.5</c:v>
              </c:pt>
              <c:pt idx="2">
                <c:v>10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.5"/>
          <c:min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稳定支撑轨迹余弦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4FAFA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76B4A"/>
              </a:solidFill>
            </c:spPr>
          </c:dPt>
          <c:cat>
            <c:strLit>
              <c:ptCount val="3"/>
              <c:pt idx="0">
                <c:v>similar</c:v>
              </c:pt>
              <c:pt idx="1">
                <c:v>random</c:v>
              </c:pt>
              <c:pt idx="2">
                <c:v>distant</c:v>
              </c:pt>
            </c:strLit>
          </c:cat>
          <c:val>
            <c:numLit>
              <c:formatCode>0.0000</c:formatCode>
              <c:ptCount val="3"/>
              <c:pt idx="0">
                <c:v>0.5082</c:v>
              </c:pt>
              <c:pt idx="1">
                <c:v>0.5164</c:v>
              </c:pt>
              <c:pt idx="2">
                <c:v>0.4053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6"/>
          <c:min val="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E6470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BB63-1029-4ECB-9453-20013994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组会汇报 · 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47BD2-1573-4CB2-A963-3D8B2B6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810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长尾表征几何：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 FeatRecon 到支撑恢复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50634-C138-4131-8144-C99B173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FDBEB-D3AF-4E01-BB25-6A8954F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论文创新、机制实验与当前结论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6D68-9E2C-40B2-B7DD-D95FFA8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ICLR 2025 paper + CIFAR-100 controlled experiments</a:t>
            </a:r>
          </a:p>
        </p:txBody>
      </p:sp>
    </p:spTree>
    <p:extLst>
      <p:ext uri="{BB962C8B-B14F-4D97-AF65-F5344CB8AC3E}">
        <p14:creationId xmlns:p14="http://schemas.microsoft.com/office/powerpoint/2010/main" val="2067893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422E9-B56D-4A97-9C69-60E8A5E1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论文洞见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40ED2-FDAE-49E9-BDF7-951A564C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论文把“样本不均衡”转化成了一个可计算的几何问题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57E4-69D8-4BFA-AF06-CB2A7FAA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32E5-92CF-4389-B1F4-6558D84F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平衡数据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5F6D0-8424-49CB-A931-C8FFE15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类中心组成 regular simplex，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不同类别尽可能等距分离。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51056-40B9-4BA1-8B00-70DBD54C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长尾数据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BD28C-4EB4-44B3-8BCC-C3E8F16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头类比例 ρ 增大时，尾类中心夹角持续缩小；超过临界 R 后可完全坍缩。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5AE55-4224-4B6B-AF50-EC32E2EE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476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EFF3A-D942-48EA-AAFA-4540D5B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支撑重叠 → 特征不可分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分类器无法补回已经丢失的几何间隔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34F52-E379-43AA-AE82-5E4E5B1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66850"/>
            <a:ext cx="61531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903251aec492b"/>
          <a:stretch xmlns:a="http://schemas.openxmlformats.org/drawingml/2006/main"/>
        </p:blipFill>
        <p:spPr>
          <a:xfrm xmlns:a="http://schemas.openxmlformats.org/drawingml/2006/main">
            <a:off x="5829300" y="2363060"/>
            <a:ext cx="5810250" cy="154133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3840A-A498-4235-B27D-B9EEA414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Figure 1 · ρ 增大，尾类中心被推到一起</a:t>
            </a:r>
          </a:p>
        </p:txBody>
      </p:sp>
    </p:spTree>
    <p:extLst>
      <p:ext uri="{BB962C8B-B14F-4D97-AF65-F5344CB8AC3E}">
        <p14:creationId xmlns:p14="http://schemas.microsoft.com/office/powerpoint/2010/main" val="1816129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2DD7E-003C-4648-B810-9C38792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论文洞见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A6757-A3BE-400D-A561-F91DC848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FeatRecon 的创新是重构“支撑区域”，而不只是移动类中心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9E8CD-F645-479D-976D-315A282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72AB3-2542-4A13-BB2A-1A35E18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762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318248ef24ee0"/>
          <a:stretch xmlns:a="http://schemas.openxmlformats.org/drawingml/2006/main"/>
        </p:blipFill>
        <p:spPr>
          <a:xfrm xmlns:a="http://schemas.openxmlformats.org/drawingml/2006/main">
            <a:off x="552450" y="2109137"/>
            <a:ext cx="6457950" cy="163007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6FFA9-E844-4C9D-B005-DECAF8FD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645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Figure 4 · 一次 FeatRecon 迭代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44041-D5A9-4600-92EE-3CE0290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43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2F375-9233-4083-8F6D-7611F29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估计球冠支撑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DCACE-48E0-44C7-9EB9-D2032DBB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中心 μ + 角半径 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7B69A-5C2E-43DB-8241-AA328C1E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E9FCB-4643-4EAB-90ED-BBFAE63D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79319-9FB0-4705-9DE0-81AE9FD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头类统计正则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A9C13-6AD5-4063-81E4-C73D7A8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修正尾类少样本偏差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163CA-0A5A-4E77-83A3-1C4E093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72B6C-4937-4599-8A7F-8AC42C71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BBE63-DDD7-47E1-9ADB-0DB8E8AA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填充合成特征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AABFA-E178-4716-B94A-749127AA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在置信支撑内补齐样本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FDB46-7F6A-4D1F-A14A-E4F03C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379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7467B-6179-4EBA-BF19-E71DA24A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8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1A517-A6E6-4290-9CC9-C8BA10F6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迭代分离支撑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D146A-CCF9-4843-9930-20E3A192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SC loss 推开相邻类别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A00A3-CE70-4ECC-BA51-AD562902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410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7AA0F-FEAB-4E7C-8031-3B9128F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877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线性可分性来自“支撑不重叠”，而不仅是类中心对称。</a:t>
            </a:r>
          </a:p>
        </p:txBody>
      </p:sp>
    </p:spTree>
    <p:extLst>
      <p:ext uri="{BB962C8B-B14F-4D97-AF65-F5344CB8AC3E}">
        <p14:creationId xmlns:p14="http://schemas.microsoft.com/office/powerpoint/2010/main" val="1053074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95E01-3BB8-4383-9CCB-FE61AD1A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论文洞见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34575-FC33-4591-8C8E-AD7D1CE8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研究对象从类中心升级为“频率-支撑动力学”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2E1B0-20C8-46AD-A642-908F94A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D6EA3-FC1F-4F4E-A250-076B2C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FeatRecon 的静态框架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7849E-5F7B-4682-B869-40C7B85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5143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B410D-50D3-49F0-83AC-8A01DE7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• 用相似头类统计正则化当前尾类支撑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• 在估计支撑内生成特征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• 目标是对称且线性可分的最终空间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BB23B-DBEF-46FC-9508-176A0F38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我们的动态问题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0512E-0DCA-46EC-AA30-26BB2AC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8EE6F-52EF-420C-91D9-E8347689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同一语义类随样本数减少，支撑如何变化？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这种退化轨迹能否跨类别共享？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能否在无泄漏条件下逆向恢复真实尾类？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34B0E-DEB2-4592-B265-141F51E3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410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EDA11-38F7-471D-9E99-B943929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2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核心变化：静态邻居迁移  →  受控频率干预 + 动态轨迹 + 可训练恢复</a:t>
            </a:r>
          </a:p>
        </p:txBody>
      </p:sp>
    </p:spTree>
    <p:extLst>
      <p:ext uri="{BB962C8B-B14F-4D97-AF65-F5344CB8AC3E}">
        <p14:creationId xmlns:p14="http://schemas.microsoft.com/office/powerpoint/2010/main" val="2038836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19D1B-00CA-4924-B284-DE3AAF20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01 · 论文洞见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231E8-64BD-455D-81F6-511B0B7F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论文结果说明支撑重构有效，收益主要来自少样本类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7E338-4264-4DEB-B84A-E84440B2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F15F4-5E17-42ED-9271-0002217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3817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8650" y="1752600"/>
          <a:ext xmlns:a="http://schemas.openxmlformats.org/drawingml/2006/main" cx="590550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3f5e788ba349a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30E9C-51D2-4287-AEA9-E9EE048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CIFAR-100-LT Top-1 (%)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2C8EB-001B-4447-88F0-77887D06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C7D44-5DEF-4232-9B2A-85563D7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few-shot accuracy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35.5 vs 33.3 @ 400 epochs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EF7D-C4E1-497D-9526-77723ECE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4B5F8-5446-4F5F-83E8-4F6C9D14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7672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overall accuracy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52.5 vs 51.8 @ IF=100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75FDC-52A6-4767-B251-D97B9FDF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55EA0-07B3-43BE-B24B-E1C4936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57800"/>
            <a:ext cx="3695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消融：Feat Gen +2.0；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Temp Adj 累计 +2.3</a:t>
            </a:r>
          </a:p>
        </p:txBody>
      </p:sp>
    </p:spTree>
    <p:extLst>
      <p:ext uri="{BB962C8B-B14F-4D97-AF65-F5344CB8AC3E}">
        <p14:creationId xmlns:p14="http://schemas.microsoft.com/office/powerpoint/2010/main" val="1138974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3093F-777C-4B35-9328-385675B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BF37E-2D54-4D1E-B341-AC7CC4E7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我们的实验沿着“现象-机制-恢复-反证”逐层收紧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ECAF-344A-4D1C-9C43-2D18451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53D02-06B5-4227-9D01-C841B12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1997D-E2C8-4A47-85F5-0D270925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13DED-A93C-4DF9-BF01-55BDFEB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58741-62A0-4298-94CB-4451DFD7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支撑动力学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38A3-4C61-4B97-8F31-E30D3E8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5 个频率环境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验证支撑随频率变化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AEA3F-689C-4CA2-8672-5017525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740C3-D52F-4A6C-92F3-9E8F86A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7CDD-38ED-4994-BDCB-4659554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秩交换 / 八节点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3FDB3-F6DD-4220-9E1B-AFE9815D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固定 98 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分离语义与频率角色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0CD6B-8284-4573-A8E3-391DE7D5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F7D1B-60E9-4577-A2B6-2B17D7A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E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1C1B5-2565-4953-BF75-41F1863D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可训练恢复 v1→v3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8A844-EE23-4163-9290-207A6A5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layer3 + fc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oracle 门控与表征评价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E5D31-2FFF-4B71-A871-C92A7BD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E81A8-CFD4-4DE0-81A8-6B69DBA4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658EA-F4DC-4E7D-B078-584CB7E0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95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供体正式对照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29C7F-2AB2-42D5-AA00-B865EB77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48125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100 类 × 3 seeds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similar / random / distant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70CB0-B6E3-4BD3-8E5B-83EE816D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11410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67FB5-01C3-43C2-BFE8-E7E22EAD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控制逐步增强：固定评估集 → 固定 98 类 → train/calibration/test 隔离 → 随机与远距离供体</a:t>
            </a:r>
          </a:p>
        </p:txBody>
      </p:sp>
    </p:spTree>
    <p:extLst>
      <p:ext uri="{BB962C8B-B14F-4D97-AF65-F5344CB8AC3E}">
        <p14:creationId xmlns:p14="http://schemas.microsoft.com/office/powerpoint/2010/main" val="766589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CC6BF-7CCD-497E-B5B2-474E453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02 · 实验进展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31EE8-C2D7-4129-BD6C-C6F0BFF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设计目标：测到频率因果效应，而非泄漏或优化漂移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1DD03-6799-4FB0-8221-FCDDB923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4302-6D9D-4795-A880-4630F93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41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400 → 208 → 108 → 56 → 28 → 14 → 7 →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F991-79E0-43D6-80C4-7174404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979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EAAA9-6237-43BE-B1B1-625E7E9F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数据隔离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352D7-A1CA-44F7-9147-4EFDEA4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1DB99-E728-4D33-8013-2EBA562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每类固定 400 张训练 + 100 张校准；官方测试集仅用于最终评价。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02EBC-0FBD-48FC-9642-3E3B367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反事实控制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CA08C-99ED-4581-B009-CA04BCEE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57550"/>
            <a:ext cx="3333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DB466-7728-4C8C-8A02-6654EC3E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A/B 反向频率变化；其余 98 类数量与具体图像固定；同 seed 同初始化、独立训练。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5451-FC20-45C6-A3F6-8F534F3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固定评价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DBD3E-D21F-40AF-9CC3-32EE3F3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33337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89EC1-03C0-47A3-9B8F-2220142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在同一平衡评估协议上测 q50、q95 与 tangent trace，不把训练样本量当成支撑宽度。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D41DF-8B77-4514-8AD7-C35CC46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410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A6561-0BE6-4552-9897-719A64B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102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明确禁止：平衡模型初始化｜测试集选邻居｜迁移原型位移｜用中间 epoch 冒充频率状态</a:t>
            </a:r>
          </a:p>
        </p:txBody>
      </p:sp>
    </p:spTree>
    <p:extLst>
      <p:ext uri="{BB962C8B-B14F-4D97-AF65-F5344CB8AC3E}">
        <p14:creationId xmlns:p14="http://schemas.microsoft.com/office/powerpoint/2010/main" val="671951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4DCF-D7FE-41BC-9F53-598B92C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03 · 关键结果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9AE7-5D94-40EB-B922-7A6FEA9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粗粒度支撑轨迹最稳定，可用于跨类共享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B0D72-0142-4859-B634-94860C53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F83F-EB7A-4340-9974-252E983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1018e7957645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4D35-2738-4AD3-B722-0095E97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A/B 八节点频率轨迹余弦（seed 42）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7B35B-5556-4761-97CD-9E272B6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3A588-1599-4DC2-ABB8-25DF33A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q50 + q95 + trace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方向一致率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2D48-2632-4209-822D-4DAE557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0.707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D711-2921-4D60-A00C-35FB7CE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500-shot / 5-shot 秩交换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两 seed 响应余弦均值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0D95E-B2B8-4F27-BA67-FEFC6A68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00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524A-2F29-49CF-A204-CD5B8A5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早期类别不相交恢复：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full support 使 5→500 NMAE 下降 90.01%</a:t>
            </a:r>
          </a:p>
        </p:txBody>
      </p:sp>
    </p:spTree>
    <p:extLst>
      <p:ext uri="{BB962C8B-B14F-4D97-AF65-F5344CB8AC3E}">
        <p14:creationId xmlns:p14="http://schemas.microsoft.com/office/powerpoint/2010/main" val="139174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5DBAC-F408-4228-83F4-072444C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03 · 关键结果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8A96E-4BC1-4338-9BEC-540BF914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v3：几何可恢复，但准确率尚未额外提升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3053-1564-446A-A914-3193B129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CBF13-F13D-4C1A-A38A-826EE661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8650" y="1847850"/>
          <a:ext xmlns:a="http://schemas.openxmlformats.org/drawingml/2006/main" cx="59626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873cdc91048b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D0211-0404-4250-B4ED-C642EBC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双向平均目标准确率（%）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4F17-4AA2-4628-BCBD-8A984446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0.231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F4A12-6B91-49AA-B26E-7D1F0D5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到 oracle 头支撑的几何距离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四种公平对照中最小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25B4-EE14-4849-9749-7561B31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+1.5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C3A17-57CB-4478-B271-2923694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固定线性探针平均提升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其他 99 类仅 -0.020 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0AD99-1B7C-4E3A-B99E-1606C59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A0C80-5C64-43E9-BF15-703125CC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尚未转化为额外端到端增益：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similar = self &lt; classifier_only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E06D0-D2BA-4534-8036-556E339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范围：1 个类别对 × 1 个 seed；仅作机制试验</a:t>
            </a:r>
          </a:p>
        </p:txBody>
      </p:sp>
    </p:spTree>
    <p:extLst>
      <p:ext uri="{BB962C8B-B14F-4D97-AF65-F5344CB8AC3E}">
        <p14:creationId xmlns:p14="http://schemas.microsoft.com/office/powerpoint/2010/main" val="152720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A613-B847-4D2F-A1AE-F3EFD6BD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03 · 关键结果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08CB-DA30-428F-8064-B061375F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BatchNorm 漂移是背景类损伤的主要来源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7B5D6-FB96-4A6F-93F6-42B4EE6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935B2-0C7A-4815-A8CD-6F8A3D0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v1 · 失败路径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118AC-2B85-409A-BEEA-7EDFF64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FBD16-8688-4167-A6D4-6A0DA81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张尾类图像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强增强产生相关视图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1034B-6FA1-4F94-84A2-BA11257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9CAD2-96A3-4852-A4C7-E0985F0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layer3 BatchNorm 运行统计漂移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B0AD8-69FC-4FE9-B859-C020676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96919-628C-493E-A172-76E1605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5E19F-269E-4F3F-B271-DB9CD2AC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其他 99 类 -8 至 -9.5 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76B4A"/>
                </a:solidFill>
                <a:latin typeface="Microsoft YaHei"/>
                <a:ea typeface="Microsoft YaHei"/>
                <a:cs typeface="Microsoft YaHei"/>
              </a:rPr>
              <a:t>连 oracle 支撑也失败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E4B6-123E-41EE-847B-75C8982F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v3 · 修复路径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84C8E-C02D-4910-B1D0-1BDFAB55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03CC5-57D1-44BF-9666-8FEE5225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冻结全部 layer3 BN 统计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+ 更小 layer3 学习率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EB327-C2E9-49DE-9679-C7A7B303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08864-5B25-4D8C-815B-A7B3171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更强背景保持 + 更低尾类 CE 权重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677C7-DFBB-47D5-8C31-2603033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5918C-11E4-4C75-A0CA-3B61835B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425C2-E212-4AB2-AA5A-D3B4A53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oracle 双向门控通过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 +11 / +7；背景 +0.02 / -0.12</a:t>
            </a:r>
          </a:p>
        </p:txBody>
      </p:sp>
    </p:spTree>
    <p:extLst>
      <p:ext uri="{BB962C8B-B14F-4D97-AF65-F5344CB8AC3E}">
        <p14:creationId xmlns:p14="http://schemas.microsoft.com/office/powerpoint/2010/main" val="747544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DB526-3B61-4A2E-BBC5-A0E76948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03 · 关键结果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BF8DD-34E0-4475-8E75-AB146AB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三种子正式对照否定“最近邻一定最好”，但确认远距离供体应被排除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5829-3E13-45C4-8DAA-833D466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B2614-6962-4C15-9459-0A13AED8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6477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847850"/>
          <a:ext xmlns:a="http://schemas.openxmlformats.org/drawingml/2006/main" cx="5829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d3ecdbf6d449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5076-AA75-445B-A81A-DE6762E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100 个目标类 · 3 seeds 聚合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CDCB-DEE6-4BAA-8453-A201100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similar - random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EBE13-036C-4438-9625-A694D31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-0.0082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E56E0-283C-46EF-AD94-C86AAF10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95% CI [-0.0336, 0.0170] · p = 0.739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79A3F-99BF-4FFE-BC17-1DB92370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88B9-2BFC-4026-A468-639FD68C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similar - distant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F7985-DB92-4C06-8E64-822FB72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+0.1029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35797-40D5-48F7-8C7F-109B926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95% CI [0.0715, 0.1339] · p &lt; 0.00002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56276-E679-4E59-9E72-F301E328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FF02B-F2A0-4951-88A0-B596E30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原型相似度适合做“排除器”，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不足以单独选出最优供体</a:t>
            </a:r>
          </a:p>
        </p:txBody>
      </p:sp>
    </p:spTree>
    <p:extLst>
      <p:ext uri="{BB962C8B-B14F-4D97-AF65-F5344CB8AC3E}">
        <p14:creationId xmlns:p14="http://schemas.microsoft.com/office/powerpoint/2010/main" val="55287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8D05D-51EF-4BAC-9AA8-3445531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04 · 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894EC-1989-46C7-8F1A-C805C1E9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当前结论：几何机制已支持，完整方法尚未支持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3D3C9-18A5-4C51-BB59-2E82AB97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E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562100"/>
          <a:ext xmlns:a="http://schemas.openxmlformats.org/drawingml/2006/main" cx="1141095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2873"/>
                <a:gridCol w="4890407"/>
                <a:gridCol w="2037670"/>
              </a:tblGrid>
              <a:tr h="76581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命题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95250" marR="95250" marT="95250" marB="95250" anchor="ctr">
                    <a:solidFill>
                      <a:srgbClr val="F1F2F4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频率变化会改变类内支撑几何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多频率受控环境 + 头尾秩交换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114300" marR="114300" marT="95250" marB="95250" anchor="ctr">
                    <a:solidFill>
                      <a:srgbClr val="EAF5F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粗粒度支撑轨迹可用于跨类恢复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A/B 八节点 + v3 几何距离 / 探针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初步支持</a:t>
                      </a:r>
                    </a:p>
                  </a:txBody>
                  <a:tcPr marL="114300" marR="114300" marT="95250" marB="95250" anchor="ctr">
                    <a:solidFill>
                      <a:srgbClr val="EAF5FB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最近邻供体稳定优于随机供体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类 × 3 seeds 正式对照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</a:t>
                      </a:r>
                    </a:p>
                  </a:txBody>
                  <a:tcPr marL="114300" marR="114300" marT="95250" marB="95250" anchor="ctr">
                    <a:solidFill>
                      <a:srgbClr val="F7E7E1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几何恢复已带来额外最终准确率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单类别对 v3 公平对照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尚未支持</a:t>
                      </a:r>
                    </a:p>
                  </a:txBody>
                  <a:tcPr marL="114300" marR="114300" marT="95250" marB="95250" anchor="ctr">
                    <a:solidFill>
                      <a:srgbClr val="F7E7E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03D1-8CAF-4794-BB76-047413D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410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C9EFF-1000-4036-9AB4-D823C59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6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本阶段的产出：一条可复现的机制证据链 + 一个更谨慎的供体选择方向</a:t>
            </a:r>
          </a:p>
        </p:txBody>
      </p:sp>
    </p:spTree>
    <p:extLst>
      <p:ext uri="{BB962C8B-B14F-4D97-AF65-F5344CB8AC3E}">
        <p14:creationId xmlns:p14="http://schemas.microsoft.com/office/powerpoint/2010/main" val="617320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DB5F2-FDF8-4378-A00B-298C30B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6E75-08D2-4A89-A300-EFEB53E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477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让“更接近 oracle 的几何”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转化成稳定的尾类准确率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56426-DB0E-4BF5-B1ED-BCCD4F4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25A73-5D69-404D-BB32-9E1B10C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A0603-AD21-4004-8981-10CC0E3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cRT 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C4867-720A-44AA-88D7-04600AD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在恢复后的冻结表征上，用完全相同训练集与协议重训分类器。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9C291-1D26-4F16-A899-D1A9F623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43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42884-6AF4-4476-A2B1-C7656163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43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扩展证据规模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5E801-8013-4049-AF1A-BB84B1A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577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至少 3 seeds、更多类别对；同一恢复算法比较 similar / random / distant。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049B7-0E36-4C37-A1B6-C43B2D7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7A933-CEBE-47BF-8FFB-22FF8B3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重写供体策略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83761-1670-4991-B237-067AEE6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候选筛除 + 轨迹可靠性 / 兼容性加权，而不是最近邻硬迁移。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5A96D-75DE-4868-8F98-9BB7CFDB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1141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470"/>
                </a:solidFill>
                <a:latin typeface="Microsoft YaHei"/>
                <a:ea typeface="Microsoft YaHei"/>
                <a:cs typeface="Microsoft YaHei"/>
              </a:rPr>
              <a:t>成功标准：背景下降 ≤ 0.5 点；目标准确率 / NCM / 探针至少两项提高；similar support 同时优于 self 与普通微调。</a:t>
            </a:r>
          </a:p>
        </p:txBody>
      </p:sp>
    </p:spTree>
    <p:extLst>
      <p:ext uri="{BB962C8B-B14F-4D97-AF65-F5344CB8AC3E}">
        <p14:creationId xmlns:p14="http://schemas.microsoft.com/office/powerpoint/2010/main" val="529713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2026-08-04T05:16:52.2620000Z</dcterms:created>
  <dcterms:modified xsi:type="dcterms:W3CDTF">2026-08-04T05:16:52.2620000Z</dcterms:modified>
</coreProperties>
</file>